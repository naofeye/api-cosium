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7315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49040" y="731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OptiFlow AI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15544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Technique</a:t>
            </a:r>
            <a:endParaRPr lang="en-US" sz="3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Integration Cosium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destinee aux equipes techniques et partenaires Cosium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9319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4343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93192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57400" y="4343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393192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108960" y="4343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931920"/>
            <a:ext cx="365760" cy="3657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160520" y="4343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8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3931920"/>
            <a:ext cx="365760" cy="36576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212080" y="4343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8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931920"/>
            <a:ext cx="365760" cy="36576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263640" y="4343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8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0" y="3931920"/>
            <a:ext cx="365760" cy="36576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315200" y="4343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OptiFlow n'est pas un concurrent de Cosium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une couche d'intelligence qui se branche dessus, en lecture seule.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329184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3840480" cy="45720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Cosium (ERP Production)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Ventes en caisse / point de vente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048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Catalogue produits et stocks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523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Facturation de base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Tiers payant (saisie PEC)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4472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Fiche client basique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Heberge sur c1.cosium.biz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2560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only</a:t>
            </a:r>
            <a:endParaRPr lang="en-US" sz="9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926080"/>
            <a:ext cx="640080" cy="27432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24612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14800" y="3474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Read-only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846320" y="1463040"/>
            <a:ext cx="3840480" cy="329184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46320" y="1463040"/>
            <a:ext cx="384048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5"/>
          <p:cNvSpPr/>
          <p:nvPr/>
        </p:nvSpPr>
        <p:spPr>
          <a:xfrm>
            <a:off x="4846320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OptiFlow AI (Intelligence)</a:t>
            </a:r>
            <a:endParaRPr lang="en-US" sz="14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03120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49240" y="20574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 temps reel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450592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24048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PEC + relances auto</a:t>
            </a:r>
            <a:endParaRPr lang="en-US" sz="11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798064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49240" y="27523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Rapprochement bancaire</a:t>
            </a:r>
            <a:endParaRPr lang="en-US" sz="1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145536"/>
            <a:ext cx="182880" cy="1828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49240" y="3099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client 360</a:t>
            </a:r>
            <a:endParaRPr lang="en-US" sz="11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493008"/>
            <a:ext cx="182880" cy="1828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349240" y="34472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+ campagnes</a:t>
            </a:r>
            <a:endParaRPr lang="en-US" sz="11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840480"/>
            <a:ext cx="182880" cy="18288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349240" y="3794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IA decisionnels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EE2E2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0" y="4617720"/>
            <a:ext cx="228600" cy="2286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1463040" y="4572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ecriture vers Cosium. Aucun PUT, POST, DELETE, PATCH. Uniquement GET + auth.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Cosium : les endpoints qu'on utilise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URL : https://c1.cosium.biz/{siteCode}/api  —  Format : HAL (application/hal+json)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304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recuperees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645920"/>
            <a:ext cx="6400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459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6304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/authenticate/basic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 un token (seul POST autorise)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84248"/>
            <a:ext cx="8229600" cy="36576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029968"/>
            <a:ext cx="64008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0299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63040" y="1984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/customers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19842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clients (nom, email, tel, date naissance)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368296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2414016"/>
            <a:ext cx="64008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140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63040" y="23682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/invoices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3682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Factures, devis, avoirs (16 types de documents)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752344"/>
            <a:ext cx="8229600" cy="36576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2798064"/>
            <a:ext cx="64008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7980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463040" y="27523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/invoiced-items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27523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facture detaillees (prix, TVA, remises)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136392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3182112"/>
            <a:ext cx="64008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182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463040" y="3136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31363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produits (EAN, GTIN, familles)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3566160"/>
            <a:ext cx="64008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5661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46304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/products/{id}/stock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0" y="3520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par site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904488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548640" y="3950208"/>
            <a:ext cx="64008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3950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463040" y="3904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/products/{id}/latent-sales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0" y="39044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latentes (devis non convertis)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288536"/>
            <a:ext cx="8229600" cy="36576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4334256"/>
            <a:ext cx="64008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43342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463040" y="42885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/payment-types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0" y="42885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Moyens de paiement disponibles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EE2E2"/>
          </a:solidFill>
          <a:ln/>
        </p:spPr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617720"/>
            <a:ext cx="228600" cy="22860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100584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INTERDIT : PUT /customers/*, POST /* (sauf auth), DELETE /*, PATCH /*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Authentification Cosium : le flux complet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194560" cy="109728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Credentials chiffres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(Fernet) en BDD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tenant_cosium_credentials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926080" y="1188720"/>
            <a:ext cx="2194560" cy="10972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2801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1752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POST /authenticate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/basic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017520" y="1965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+ password + site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394960" y="1188720"/>
            <a:ext cx="1828800" cy="109728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2801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Token retourne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header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486400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access_token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7406640" y="1188720"/>
            <a:ext cx="1463040" cy="109728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28016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98080" y="1554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GET avec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7498080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 header</a:t>
            </a:r>
            <a:endParaRPr lang="en-US" sz="8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1554480"/>
            <a:ext cx="274320" cy="228600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1554480"/>
            <a:ext cx="274320" cy="228600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1554480"/>
            <a:ext cx="274320" cy="22860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14"/>
          <p:cNvSpPr/>
          <p:nvPr/>
        </p:nvSpPr>
        <p:spPr>
          <a:xfrm>
            <a:off x="64008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CosiumClient — Seules 2 methodes autorisees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731520" y="292608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CosiumClient:</a:t>
            </a:r>
            <a:endParaRPr lang="en-US" sz="800" dirty="0"/>
          </a:p>
        </p:txBody>
      </p:sp>
      <p:sp>
        <p:nvSpPr>
          <p:cNvPr id="25" name="Text 16"/>
          <p:cNvSpPr/>
          <p:nvPr/>
        </p:nvSpPr>
        <p:spPr>
          <a:xfrm>
            <a:off x="731520" y="3090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authenticate(self, tenant, login, password) -&gt; str:</a:t>
            </a:r>
            <a:endParaRPr lang="en-US" sz="800" dirty="0"/>
          </a:p>
        </p:txBody>
      </p:sp>
      <p:sp>
        <p:nvSpPr>
          <p:cNvPr id="26" name="Text 17"/>
          <p:cNvSpPr/>
          <p:nvPr/>
        </p:nvSpPr>
        <p:spPr>
          <a:xfrm>
            <a:off x="731520" y="325526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"""POST /authenticate/basic — SEUL POST autorise"""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731520" y="3419856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 = httpx.post(f"{base_url}/authenticate/basic", ...)</a:t>
            </a:r>
            <a:endParaRPr lang="en-US" sz="800" dirty="0"/>
          </a:p>
        </p:txBody>
      </p:sp>
      <p:sp>
        <p:nvSpPr>
          <p:cNvPr id="28" name="Text 19"/>
          <p:cNvSpPr/>
          <p:nvPr/>
        </p:nvSpPr>
        <p:spPr>
          <a:xfrm>
            <a:off x="731520" y="358444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response.headers["access_token"]</a:t>
            </a:r>
            <a:endParaRPr lang="en-US" sz="800" dirty="0"/>
          </a:p>
        </p:txBody>
      </p:sp>
      <p:sp>
        <p:nvSpPr>
          <p:cNvPr id="29" name="Text 20"/>
          <p:cNvSpPr/>
          <p:nvPr/>
        </p:nvSpPr>
        <p:spPr>
          <a:xfrm>
            <a:off x="731520" y="37490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0" name="Text 21"/>
          <p:cNvSpPr/>
          <p:nvPr/>
        </p:nvSpPr>
        <p:spPr>
          <a:xfrm>
            <a:off x="731520" y="391363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get(self, endpoint, params=None) -&gt; dict:</a:t>
            </a:r>
            <a:endParaRPr lang="en-US" sz="800" dirty="0"/>
          </a:p>
        </p:txBody>
      </p:sp>
      <p:sp>
        <p:nvSpPr>
          <p:cNvPr id="31" name="Text 22"/>
          <p:cNvSpPr/>
          <p:nvPr/>
        </p:nvSpPr>
        <p:spPr>
          <a:xfrm>
            <a:off x="731520" y="407822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"""GET generique — SEULE methode de lecture"""</a:t>
            </a:r>
            <a:endParaRPr lang="en-US" sz="800" dirty="0"/>
          </a:p>
        </p:txBody>
      </p:sp>
      <p:sp>
        <p:nvSpPr>
          <p:cNvPr id="32" name="Text 23"/>
          <p:cNvSpPr/>
          <p:nvPr/>
        </p:nvSpPr>
        <p:spPr>
          <a:xfrm>
            <a:off x="731520" y="4242816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httpx.get(f"{base_url}{endpoint}", headers=auth_header)</a:t>
            </a:r>
            <a:endParaRPr lang="en-US" sz="800" dirty="0"/>
          </a:p>
        </p:txBody>
      </p:sp>
      <p:sp>
        <p:nvSpPr>
          <p:cNvPr id="33" name="Text 24"/>
          <p:cNvSpPr/>
          <p:nvPr/>
        </p:nvSpPr>
        <p:spPr>
          <a:xfrm>
            <a:off x="731520" y="440740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4" name="Text 25"/>
          <p:cNvSpPr/>
          <p:nvPr/>
        </p:nvSpPr>
        <p:spPr>
          <a:xfrm>
            <a:off x="731520" y="457200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PAS de put(), post(), delete(), patch()</a:t>
            </a:r>
            <a:endParaRPr lang="en-US" sz="800" dirty="0"/>
          </a:p>
        </p:txBody>
      </p:sp>
      <p:sp>
        <p:nvSpPr>
          <p:cNvPr id="35" name="Text 26"/>
          <p:cNvSpPr/>
          <p:nvPr/>
        </p:nvSpPr>
        <p:spPr>
          <a:xfrm>
            <a:off x="731520" y="47365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PAS de methode generique request() avec methode variable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backend : separation en couches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couche a une responsabilite unique. La logique metier ne fuit jamais dans les routes.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7772400" cy="68580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1645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 — delegation pure, pas de logique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280160" y="2194560"/>
            <a:ext cx="6583680" cy="685800"/>
          </a:xfrm>
          <a:prstGeom prst="rect">
            <a:avLst/>
          </a:prstGeom>
          <a:solidFill>
            <a:srgbClr val="4F46E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3317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2194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828800" y="2514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metier pure — ne connait pas HTTP ni FastAPI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874520" y="3063240"/>
            <a:ext cx="5394960" cy="6858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2004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2316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423160" y="3383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BDD — requetes SQL pures via SQLAlchemy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468880" y="3931920"/>
            <a:ext cx="4206240" cy="685800"/>
          </a:xfrm>
          <a:prstGeom prst="rect">
            <a:avLst/>
          </a:prstGeom>
          <a:solidFill>
            <a:srgbClr val="9333E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40690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01752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(SQLAlchemy) + Schemas (Pydantic)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301752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+ validation stricte des entrees/sorties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274320" y="1325880"/>
            <a:ext cx="137160" cy="3200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5"/>
          <p:cNvSpPr/>
          <p:nvPr/>
        </p:nvSpPr>
        <p:spPr>
          <a:xfrm>
            <a:off x="7818120" y="1463040"/>
            <a:ext cx="1188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(Cosium, MinIO,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SMS)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8732520" y="1325880"/>
            <a:ext cx="109728" cy="3200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1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617720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0584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: 20+ services, 17+ repositories, 18+ schemas Pydantic, 16 fichiers de tests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PostgreSQL : 20+ tables metier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15544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182880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users, customers,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cases, documents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23160" y="1097280"/>
            <a:ext cx="1828800" cy="15544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423160" y="1097280"/>
            <a:ext cx="1828800" cy="3200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14630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devis, devis_lignes,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factures, facture_lignes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89120" y="1097280"/>
            <a:ext cx="1828800" cy="15544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097280"/>
            <a:ext cx="182880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Payant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14630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payer_organizations,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payer_contracts,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pec_requests,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pec_status_history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83680" y="1097280"/>
            <a:ext cx="1828800" cy="15544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1097280"/>
            <a:ext cx="182880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14630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bank_transactions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1828800" cy="15544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26080"/>
            <a:ext cx="182880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2918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reminders,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reminder_plans,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reminder_templates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423160" y="2926080"/>
            <a:ext cx="1828800" cy="15544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23160" y="2926080"/>
            <a:ext cx="1828800" cy="3200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5" name="Text 23"/>
          <p:cNvSpPr/>
          <p:nvPr/>
        </p:nvSpPr>
        <p:spPr>
          <a:xfrm>
            <a:off x="242316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14600" y="32918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marketing_consents,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campaigns,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message_logs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89120" y="2926080"/>
            <a:ext cx="1828800" cy="15544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89120" y="2926080"/>
            <a:ext cx="1828800" cy="3200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Notifs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80560" y="32918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action_items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583680" y="2926080"/>
            <a:ext cx="1828800" cy="15544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83680" y="2926080"/>
            <a:ext cx="1828800" cy="32004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75120" y="32918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organizations,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tenant_users,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tenant_cosium_creds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tables avec tenant_id pour l'isolation multi-tenant (RLS PostgreSQL)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Synchronisation Cosium : flux de donnees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Unidirectionnel : Cosium vers OptiFlow, jamais l'inverse.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645920" cy="731520"/>
          </a:xfrm>
          <a:prstGeom prst="rect">
            <a:avLst/>
          </a:prstGeom>
          <a:solidFill>
            <a:srgbClr val="37415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Cosium ERP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c1.cosium.biz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645920" cy="7315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CosiumClient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(GET only)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1645920" cy="731520"/>
          </a:xfrm>
          <a:prstGeom prst="rect">
            <a:avLst/>
          </a:prstGeom>
          <a:solidFill>
            <a:srgbClr val="4F46E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(Celery task)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1645920" cy="7315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(OptiFlow DB)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554480"/>
            <a:ext cx="457200" cy="2286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554480"/>
            <a:ext cx="457200" cy="22860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4572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synchronisees :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7" name="Text 12"/>
          <p:cNvSpPr/>
          <p:nvPr/>
        </p:nvSpPr>
        <p:spPr>
          <a:xfrm>
            <a:off x="54864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201168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Cosium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3749040" y="2743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12064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recuperes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57200" y="3063240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7"/>
          <p:cNvSpPr/>
          <p:nvPr/>
        </p:nvSpPr>
        <p:spPr>
          <a:xfrm>
            <a:off x="548640" y="30632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2011680" y="30632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/customers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3749040" y="30632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heures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120640" y="30632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prenom, email, tel, date naissance, n° secu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57200" y="3410712"/>
            <a:ext cx="8229600" cy="3291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7" name="Text 22"/>
          <p:cNvSpPr/>
          <p:nvPr/>
        </p:nvSpPr>
        <p:spPr>
          <a:xfrm>
            <a:off x="548640" y="34107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/ Devis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2011680" y="34107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/invoices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3749040" y="34107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heures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120640" y="34107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date, montant TTC, part secu, part mutuelle, solde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457200" y="3758184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548640" y="37581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facture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2011680" y="37581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/invoiced-items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3749040" y="37581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les factures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5120640" y="37581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produit, quantite, prix, TVA, remise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457200" y="4105656"/>
            <a:ext cx="8229600" cy="3291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7" name="Text 32"/>
          <p:cNvSpPr/>
          <p:nvPr/>
        </p:nvSpPr>
        <p:spPr>
          <a:xfrm>
            <a:off x="548640" y="41056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2011680" y="410565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/products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3749040" y="41056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Quotidien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5120640" y="41056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EAN, GTIN, famille, label, stock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457200" y="4453128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37"/>
          <p:cNvSpPr/>
          <p:nvPr/>
        </p:nvSpPr>
        <p:spPr>
          <a:xfrm>
            <a:off x="548640" y="44531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Moyens de paiement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2011680" y="44531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/payment-types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3749040" y="44531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Quotidien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5120640" y="44531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paiement acceptes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17720"/>
            <a:ext cx="228600" cy="22860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100584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HAL gere automatiquement. Max 500 items/page. Sync incrementale par date.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: Docker Compose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5544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solidFill>
            <a:srgbClr val="0096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194560" y="1097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Python 3.12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REST, logique metier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1097280"/>
            <a:ext cx="2651760" cy="15544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solidFill>
            <a:srgbClr val="1F293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4300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29200" y="1097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:3000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42900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 19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126480" y="1097280"/>
            <a:ext cx="2651760" cy="15544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097280"/>
            <a:ext cx="2651760" cy="365760"/>
          </a:xfrm>
          <a:prstGeom prst="rect">
            <a:avLst/>
          </a:prstGeom>
          <a:solidFill>
            <a:srgbClr val="3367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3796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863840" y="1097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:5432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26364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donnees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tables, RLS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57200" y="2926080"/>
            <a:ext cx="2651760" cy="15544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7200" y="2926080"/>
            <a:ext cx="2651760" cy="365760"/>
          </a:xfrm>
          <a:prstGeom prst="rect">
            <a:avLst/>
          </a:prstGeom>
          <a:solidFill>
            <a:srgbClr val="DC382D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71800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6868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2194560" y="2926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:6379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9436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broker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tasks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291840" y="2926080"/>
            <a:ext cx="2651760" cy="15544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291840" y="2926080"/>
            <a:ext cx="2651760" cy="36576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971800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70332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minio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5029200" y="2926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:9001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342900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(S3)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documents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 (factures, ordonnances)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6126480" y="2926080"/>
            <a:ext cx="2651760" cy="15544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126480" y="2926080"/>
            <a:ext cx="2651760" cy="365760"/>
          </a:xfrm>
          <a:prstGeom prst="rect">
            <a:avLst/>
          </a:prstGeom>
          <a:solidFill>
            <a:srgbClr val="4B5563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971800"/>
            <a:ext cx="256032" cy="25603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53796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mailhog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7863840" y="2926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:8025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626364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Mailhog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dev/test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Relances, marketing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   — Tout demarre en une commande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Securite : 5 couches de protection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06984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69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1247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960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Cosium Read-Only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0" y="960120"/>
            <a:ext cx="4846320" cy="6858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CosiumClient n'a que 2 methodes : authenticate() et get(). Aucun PUT/POST/DELETE/PATCH possible. Pas de methode generique request().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84708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9019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1737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credentials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57600" y="1737360"/>
            <a:ext cx="4846320" cy="6858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Cosium chiffres avec Fernet (AES-128-CBC). Cle de chiffrement dans les variables d'environnement, jamais en BDD.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514600"/>
            <a:ext cx="8229600" cy="68580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17" name="Shape 13"/>
          <p:cNvSpPr/>
          <p:nvPr/>
        </p:nvSpPr>
        <p:spPr>
          <a:xfrm>
            <a:off x="594360" y="262432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4"/>
          <p:cNvSpPr/>
          <p:nvPr/>
        </p:nvSpPr>
        <p:spPr>
          <a:xfrm>
            <a:off x="59436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67919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2514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657600" y="2514600"/>
            <a:ext cx="4846320" cy="6858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JWT avec refresh. 4 roles : admin, manager, operator, viewer. Chaque endpoint verifie le role. Expiration configurable.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23" name="Shape 18"/>
          <p:cNvSpPr/>
          <p:nvPr/>
        </p:nvSpPr>
        <p:spPr>
          <a:xfrm>
            <a:off x="594360" y="340156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19"/>
          <p:cNvSpPr/>
          <p:nvPr/>
        </p:nvSpPr>
        <p:spPr>
          <a:xfrm>
            <a:off x="594360" y="3401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45643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3291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tenant (RLS)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657600" y="3291840"/>
            <a:ext cx="4846320" cy="6858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PostgreSQL. Chaque requete filtre par tenant_id. Un magasin ne peut JAMAIS voir les donnees d'un autre.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29" name="Shape 23"/>
          <p:cNvSpPr/>
          <p:nvPr/>
        </p:nvSpPr>
        <p:spPr>
          <a:xfrm>
            <a:off x="594360" y="417880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4"/>
          <p:cNvSpPr/>
          <p:nvPr/>
        </p:nvSpPr>
        <p:spPr>
          <a:xfrm>
            <a:off x="594360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23367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00200" y="4069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complet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657600" y="4069080"/>
            <a:ext cx="4846320" cy="6858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audit_logs : chaque creation, modification, suppression est tracee avec user_id, timestamp, avant/apres. Non deletable.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: architecture pour reseaux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Database + Row-Level Security (RLS) — pas de base separee par magasin.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d'une requete API multi-tenant 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1554480" cy="82296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600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contient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tenant_id + role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828800"/>
            <a:ext cx="182880" cy="182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11680" y="1600200"/>
            <a:ext cx="1554480" cy="822960"/>
          </a:xfrm>
          <a:prstGeom prst="rect">
            <a:avLst/>
          </a:prstGeom>
          <a:solidFill>
            <a:srgbClr val="4F46E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1600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01168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app.tenant_id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session PG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828800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749040" y="1600200"/>
            <a:ext cx="1554480" cy="8229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749040" y="1600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74904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 tenant_ctx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service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828800"/>
            <a:ext cx="182880" cy="1828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86400" y="1600200"/>
            <a:ext cx="1554480" cy="822960"/>
          </a:xfrm>
          <a:prstGeom prst="rect">
            <a:avLst/>
          </a:prstGeom>
          <a:solidFill>
            <a:srgbClr val="9333E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486400" y="1600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8640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tenant_id = ?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TOUTE requete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828800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223760" y="1600200"/>
            <a:ext cx="1554480" cy="8229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223760" y="1600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RLS Policy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22376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filtre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64008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garantie :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57200" y="3017520"/>
            <a:ext cx="3931920" cy="1463040"/>
          </a:xfrm>
          <a:prstGeom prst="rect">
            <a:avLst/>
          </a:prstGeom>
          <a:solidFill>
            <a:srgbClr val="FEE2E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63240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724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INTERDIT :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48640" y="32918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get_case(db, case_id):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db.query(Case)\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.filter(Case.id == case_id)\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.first()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 de tenant_id = fuite de donnees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4754880" y="3017520"/>
            <a:ext cx="3931920" cy="146304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063240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07492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 :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4846320" y="32918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get_case(db, case_id, tenant_id):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db.query(Case)\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.filter(Case.id == case_id,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Case.tenant_id == tenant_id)\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.first()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magasin a ses propres credentials Cosium chiffres. Un sync Celery par tenant.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Modules metier implementes (16/22 etapes)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84048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78992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005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JWT + RBAC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468880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refresh token, 4 roles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54880" y="1005840"/>
            <a:ext cx="4114800" cy="384048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7899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0640" y="1005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clients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766560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mapping Cosium ready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" y="1444752"/>
            <a:ext cx="4114800" cy="384048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17904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14447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(cases)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2468880" y="14447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complet brouillon&gt;complet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754880" y="1444752"/>
            <a:ext cx="4114800" cy="384048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517904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20640" y="14447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 / Documents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766560" y="14447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MinIO S3, types, meta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57200" y="1883664"/>
            <a:ext cx="4114800" cy="384048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956816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2960" y="18836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2468880" y="18836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Creation, lignes, conversion facture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4754880" y="1883664"/>
            <a:ext cx="4114800" cy="384048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956816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20640" y="18836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6766560" y="18836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Numerotation auto, lignes, TVA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457200" y="2322576"/>
            <a:ext cx="4114800" cy="384048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395728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22960" y="23225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 Mutuelles/Secu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2468880" y="23225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Organismes, contrats, statuts, historique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4754880" y="2322576"/>
            <a:ext cx="4114800" cy="384048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395728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120640" y="23225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</a:t>
            </a:r>
            <a:endParaRPr lang="en-US" sz="1000" dirty="0"/>
          </a:p>
        </p:txBody>
      </p:sp>
      <p:sp>
        <p:nvSpPr>
          <p:cNvPr id="34" name="Text 24"/>
          <p:cNvSpPr/>
          <p:nvPr/>
        </p:nvSpPr>
        <p:spPr>
          <a:xfrm>
            <a:off x="6766560" y="23225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Enregistrement, suivi, types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457200" y="2761488"/>
            <a:ext cx="4114800" cy="384048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2834640"/>
            <a:ext cx="201168" cy="20116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22960" y="27614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Rapprochement bancaire</a:t>
            </a:r>
            <a:endParaRPr lang="en-US" sz="1000" dirty="0"/>
          </a:p>
        </p:txBody>
      </p:sp>
      <p:sp>
        <p:nvSpPr>
          <p:cNvPr id="38" name="Text 27"/>
          <p:cNvSpPr/>
          <p:nvPr/>
        </p:nvSpPr>
        <p:spPr>
          <a:xfrm>
            <a:off x="2468880" y="27614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releves, matching auto</a:t>
            </a:r>
            <a:endParaRPr lang="en-US" sz="900" dirty="0"/>
          </a:p>
        </p:txBody>
      </p:sp>
      <p:sp>
        <p:nvSpPr>
          <p:cNvPr id="39" name="Shape 28"/>
          <p:cNvSpPr/>
          <p:nvPr/>
        </p:nvSpPr>
        <p:spPr>
          <a:xfrm>
            <a:off x="4754880" y="2761488"/>
            <a:ext cx="4114800" cy="384048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2834640"/>
            <a:ext cx="201168" cy="20116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120640" y="27614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Relances intelligentes</a:t>
            </a:r>
            <a:endParaRPr lang="en-US" sz="1000" dirty="0"/>
          </a:p>
        </p:txBody>
      </p:sp>
      <p:sp>
        <p:nvSpPr>
          <p:cNvPr id="42" name="Text 30"/>
          <p:cNvSpPr/>
          <p:nvPr/>
        </p:nvSpPr>
        <p:spPr>
          <a:xfrm>
            <a:off x="6766560" y="27614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templates, priorisation</a:t>
            </a:r>
            <a:endParaRPr lang="en-US" sz="900" dirty="0"/>
          </a:p>
        </p:txBody>
      </p:sp>
      <p:sp>
        <p:nvSpPr>
          <p:cNvPr id="43" name="Shape 31"/>
          <p:cNvSpPr/>
          <p:nvPr/>
        </p:nvSpPr>
        <p:spPr>
          <a:xfrm>
            <a:off x="457200" y="3200400"/>
            <a:ext cx="4114800" cy="384048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3273552"/>
            <a:ext cx="201168" cy="201168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822960" y="3200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+ RGPD</a:t>
            </a:r>
            <a:endParaRPr lang="en-US" sz="1000" dirty="0"/>
          </a:p>
        </p:txBody>
      </p:sp>
      <p:sp>
        <p:nvSpPr>
          <p:cNvPr id="46" name="Text 33"/>
          <p:cNvSpPr/>
          <p:nvPr/>
        </p:nvSpPr>
        <p:spPr>
          <a:xfrm>
            <a:off x="2468880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Consentements, campagnes, segments</a:t>
            </a:r>
            <a:endParaRPr lang="en-US" sz="900" dirty="0"/>
          </a:p>
        </p:txBody>
      </p:sp>
      <p:sp>
        <p:nvSpPr>
          <p:cNvPr id="47" name="Shape 34"/>
          <p:cNvSpPr/>
          <p:nvPr/>
        </p:nvSpPr>
        <p:spPr>
          <a:xfrm>
            <a:off x="4754880" y="3200400"/>
            <a:ext cx="4114800" cy="384048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3273552"/>
            <a:ext cx="201168" cy="201168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5120640" y="3200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50" name="Text 36"/>
          <p:cNvSpPr/>
          <p:nvPr/>
        </p:nvSpPr>
        <p:spPr>
          <a:xfrm>
            <a:off x="6766560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de toute operation sensible</a:t>
            </a:r>
            <a:endParaRPr lang="en-US" sz="900" dirty="0"/>
          </a:p>
        </p:txBody>
      </p:sp>
      <p:sp>
        <p:nvSpPr>
          <p:cNvPr id="51" name="Shape 37"/>
          <p:cNvSpPr/>
          <p:nvPr/>
        </p:nvSpPr>
        <p:spPr>
          <a:xfrm>
            <a:off x="457200" y="3639312"/>
            <a:ext cx="4114800" cy="384048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" y="3712464"/>
            <a:ext cx="201168" cy="201168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822960" y="3639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54" name="Text 39"/>
          <p:cNvSpPr/>
          <p:nvPr/>
        </p:nvSpPr>
        <p:spPr>
          <a:xfrm>
            <a:off x="2468880" y="36393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items, alertes temps reel</a:t>
            </a:r>
            <a:endParaRPr lang="en-US" sz="900" dirty="0"/>
          </a:p>
        </p:txBody>
      </p:sp>
      <p:sp>
        <p:nvSpPr>
          <p:cNvPr id="55" name="Shape 40"/>
          <p:cNvSpPr/>
          <p:nvPr/>
        </p:nvSpPr>
        <p:spPr>
          <a:xfrm>
            <a:off x="4754880" y="3639312"/>
            <a:ext cx="4114800" cy="384048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46320" y="3712464"/>
            <a:ext cx="201168" cy="201168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5120640" y="3639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</a:t>
            </a:r>
            <a:endParaRPr lang="en-US" sz="1000" dirty="0"/>
          </a:p>
        </p:txBody>
      </p:sp>
      <p:sp>
        <p:nvSpPr>
          <p:cNvPr id="58" name="Text 42"/>
          <p:cNvSpPr/>
          <p:nvPr/>
        </p:nvSpPr>
        <p:spPr>
          <a:xfrm>
            <a:off x="6766560" y="36393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impayes, PEC, clients actifs</a:t>
            </a:r>
            <a:endParaRPr lang="en-US" sz="900" dirty="0"/>
          </a:p>
        </p:txBody>
      </p:sp>
      <p:sp>
        <p:nvSpPr>
          <p:cNvPr id="59" name="Shape 43"/>
          <p:cNvSpPr/>
          <p:nvPr/>
        </p:nvSpPr>
        <p:spPr>
          <a:xfrm>
            <a:off x="457200" y="4078224"/>
            <a:ext cx="4114800" cy="384048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8640" y="4151376"/>
            <a:ext cx="201168" cy="201168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822960" y="40782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Cosium</a:t>
            </a:r>
            <a:endParaRPr lang="en-US" sz="1000" dirty="0"/>
          </a:p>
        </p:txBody>
      </p:sp>
      <p:sp>
        <p:nvSpPr>
          <p:cNvPr id="62" name="Text 45"/>
          <p:cNvSpPr/>
          <p:nvPr/>
        </p:nvSpPr>
        <p:spPr>
          <a:xfrm>
            <a:off x="2468880" y="40782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API + sync (ETAPE 17)</a:t>
            </a:r>
            <a:endParaRPr lang="en-US" sz="900" dirty="0"/>
          </a:p>
        </p:txBody>
      </p:sp>
      <p:sp>
        <p:nvSpPr>
          <p:cNvPr id="63" name="Shape 46"/>
          <p:cNvSpPr/>
          <p:nvPr/>
        </p:nvSpPr>
        <p:spPr>
          <a:xfrm>
            <a:off x="4754880" y="4078224"/>
            <a:ext cx="4114800" cy="384048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6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6320" y="4151376"/>
            <a:ext cx="201168" cy="201168"/>
          </a:xfrm>
          <a:prstGeom prst="rect">
            <a:avLst/>
          </a:prstGeom>
        </p:spPr>
      </p:pic>
      <p:sp>
        <p:nvSpPr>
          <p:cNvPr id="65" name="Text 47"/>
          <p:cNvSpPr/>
          <p:nvPr/>
        </p:nvSpPr>
        <p:spPr>
          <a:xfrm>
            <a:off x="5120640" y="40782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RLS</a:t>
            </a:r>
            <a:endParaRPr lang="en-US" sz="1000" dirty="0"/>
          </a:p>
        </p:txBody>
      </p:sp>
      <p:sp>
        <p:nvSpPr>
          <p:cNvPr id="66" name="Text 48"/>
          <p:cNvSpPr/>
          <p:nvPr/>
        </p:nvSpPr>
        <p:spPr>
          <a:xfrm>
            <a:off x="6766560" y="40782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donnees (ETAPE 22)</a:t>
            </a:r>
            <a:endParaRPr lang="en-US" sz="900" dirty="0"/>
          </a:p>
        </p:txBody>
      </p:sp>
      <p:sp>
        <p:nvSpPr>
          <p:cNvPr id="67" name="Shape 4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8" name="Text 50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implemente. Integration Cosium + Multi-tenant = les 2 dernieres briques majeures.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: 23 pages, qualite professionnelle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691640" y="10058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834640" y="10058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strict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977640" y="10058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CSS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120640" y="10058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shadcn/ui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63640" y="10058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Lucide icons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406640" y="10058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Recharts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3736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etats obligatoires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057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Erreur, Vide, Donnees — jamais de page blanche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73736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73736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francais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057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'Submit', 'Loading...', 'Error' — tout en francais humain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0604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606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instantane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succes/erreur, spinner sur clic, desactivation anti-double-clic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60604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60604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606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temps reel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par champ, message sous le champ, bouton desactive si invalide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47472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formates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794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1 234,56 EUR, dates 03/04/2026, badges colores par statut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47472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47472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desktop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3794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1920x1080, compatible 1366x768, accessibilite WCAG AA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 composants reutilisables : DataTable, KPICard, MoneyDisplay, StatusBadge, EmptyState, Toast, ...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: Login, Dashboard, Clients, Dossiers, Devis, Factures, PEC, Paiements, Relances, Marketing, Rapprochement, Admin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4 copilotes IA integres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ne remplace pas l'opticien. Elle lui donne les bonnes informations au bon moment.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0" cy="169164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4114800" cy="36576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Dossier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un dossier, l'IA resume 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Documents manquants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PEC en attente &gt; 30 jours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Devis non signe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Prochaines actions a faire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0" y="1691640"/>
            <a:ext cx="1691640" cy="8229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7"/>
          <p:cNvSpPr/>
          <p:nvPr/>
        </p:nvSpPr>
        <p:spPr>
          <a:xfrm>
            <a:off x="2788920" y="16916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"Il manque l'ordonnance. La PEC de 850€ attend depuis 32 jours. Relance recommandee."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754880" y="1234440"/>
            <a:ext cx="4114800" cy="169164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234440"/>
            <a:ext cx="4114800" cy="3657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801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92040" y="1645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vos paiements 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Impayes prioritaires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Prediction retards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Recommandations relance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Anomalies detectees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040880" y="1691640"/>
            <a:ext cx="1691640" cy="8229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7" name="Text 13"/>
          <p:cNvSpPr/>
          <p:nvPr/>
        </p:nvSpPr>
        <p:spPr>
          <a:xfrm>
            <a:off x="7086600" y="16916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 PEC &gt; 30j non relancees = 2 400€. Priorite : mutuelle X (1 200€)."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457200" y="3108960"/>
            <a:ext cx="4114800" cy="169164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108960"/>
            <a:ext cx="4114800" cy="36576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54680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Documentaire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94360" y="3520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recherche Cosium 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- 164 pages de documentation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Recherche en langage naturel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Procedures pas a pas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Reponses contextuelles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2743200" y="3566160"/>
            <a:ext cx="1691640" cy="8229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4" name="Text 19"/>
          <p:cNvSpPr/>
          <p:nvPr/>
        </p:nvSpPr>
        <p:spPr>
          <a:xfrm>
            <a:off x="2788920" y="356616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"Comment faire une PEC pour une mutuelle qui refuse ?" → reponse avec etapes.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4754880" y="3108960"/>
            <a:ext cx="4114800" cy="169164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54880" y="3108960"/>
            <a:ext cx="4114800" cy="3657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54680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1208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Marketing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892040" y="3520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automatiques 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Segments a cibler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Campagnes recommandees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Timing optimal d'envoi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Scoring clients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7040880" y="3566160"/>
            <a:ext cx="1691640" cy="8229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1" name="Text 25"/>
          <p:cNvSpPr/>
          <p:nvPr/>
        </p:nvSpPr>
        <p:spPr>
          <a:xfrm>
            <a:off x="7086600" y="356616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"45 clients ont une ordonnance qui expire ce mois. Campagne SMS suggeree."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IA : provider-agnostic + RAG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peut changer de provider IA (Claude, GPT, Mistral) sans toucher au code metier.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d'une requete copilote 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1371600" cy="777240"/>
          </a:xfrm>
          <a:prstGeom prst="rect">
            <a:avLst/>
          </a:prstGeom>
          <a:solidFill>
            <a:srgbClr val="37415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60020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828800"/>
            <a:ext cx="137160" cy="137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783080" y="1600200"/>
            <a:ext cx="1554480" cy="77724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783080" y="1600200"/>
            <a:ext cx="1554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(dossier, PEC,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paiements)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828800"/>
            <a:ext cx="137160" cy="1371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74720" y="1600200"/>
            <a:ext cx="1554480" cy="7772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474720" y="1600200"/>
            <a:ext cx="1554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: recherche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Cosium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(164 pages)</a:t>
            </a:r>
            <a:endParaRPr lang="en-US" sz="9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28800"/>
            <a:ext cx="137160" cy="1371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166360" y="1600200"/>
            <a:ext cx="1188720" cy="777240"/>
          </a:xfrm>
          <a:prstGeom prst="rect">
            <a:avLst/>
          </a:prstGeom>
          <a:solidFill>
            <a:srgbClr val="4F46E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5166360" y="1600200"/>
            <a:ext cx="11887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9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828800"/>
            <a:ext cx="137160" cy="13716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92240" y="1600200"/>
            <a:ext cx="1371600" cy="7772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6492240" y="160020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(Haiku/Sonnet)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828800"/>
            <a:ext cx="137160" cy="13716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001000" y="1600200"/>
            <a:ext cx="1188720" cy="7772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8001000" y="1600200"/>
            <a:ext cx="11887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Reponse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457200" y="2606040"/>
            <a:ext cx="3931920" cy="2103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16"/>
          <p:cNvSpPr/>
          <p:nvPr/>
        </p:nvSpPr>
        <p:spPr>
          <a:xfrm>
            <a:off x="54864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provider-agnostic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40080" y="292608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AIProvider(ABC):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640080" y="307238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750" dirty="0"/>
          </a:p>
        </p:txBody>
      </p:sp>
      <p:sp>
        <p:nvSpPr>
          <p:cNvPr id="26" name="Text 19"/>
          <p:cNvSpPr/>
          <p:nvPr/>
        </p:nvSpPr>
        <p:spPr>
          <a:xfrm>
            <a:off x="640080" y="321868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query(prompt, context) -&gt; str</a:t>
            </a:r>
            <a:endParaRPr lang="en-US" sz="750" dirty="0"/>
          </a:p>
        </p:txBody>
      </p:sp>
      <p:sp>
        <p:nvSpPr>
          <p:cNvPr id="27" name="Text 20"/>
          <p:cNvSpPr/>
          <p:nvPr/>
        </p:nvSpPr>
        <p:spPr>
          <a:xfrm>
            <a:off x="640080" y="336499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640080" y="351129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ClaudeProvider(AIProvider):</a:t>
            </a:r>
            <a:endParaRPr lang="en-US" sz="750" dirty="0"/>
          </a:p>
        </p:txBody>
      </p:sp>
      <p:sp>
        <p:nvSpPr>
          <p:cNvPr id="29" name="Text 22"/>
          <p:cNvSpPr/>
          <p:nvPr/>
        </p:nvSpPr>
        <p:spPr>
          <a:xfrm>
            <a:off x="640080" y="365760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Anthropic Claude API</a:t>
            </a:r>
            <a:endParaRPr lang="en-US" sz="750" dirty="0"/>
          </a:p>
        </p:txBody>
      </p:sp>
      <p:sp>
        <p:nvSpPr>
          <p:cNvPr id="30" name="Text 23"/>
          <p:cNvSpPr/>
          <p:nvPr/>
        </p:nvSpPr>
        <p:spPr>
          <a:xfrm>
            <a:off x="640080" y="380390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 = 'claude-haiku'  # ou sonnet</a:t>
            </a:r>
            <a:endParaRPr lang="en-US" sz="750" dirty="0"/>
          </a:p>
        </p:txBody>
      </p:sp>
      <p:sp>
        <p:nvSpPr>
          <p:cNvPr id="31" name="Text 24"/>
          <p:cNvSpPr/>
          <p:nvPr/>
        </p:nvSpPr>
        <p:spPr>
          <a:xfrm>
            <a:off x="640080" y="395020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32" name="Text 25"/>
          <p:cNvSpPr/>
          <p:nvPr/>
        </p:nvSpPr>
        <p:spPr>
          <a:xfrm>
            <a:off x="640080" y="409651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AIService: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640080" y="424281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copilot_query(db, tenant_id,</a:t>
            </a:r>
            <a:endParaRPr lang="en-US" sz="750" dirty="0"/>
          </a:p>
        </p:txBody>
      </p:sp>
      <p:sp>
        <p:nvSpPr>
          <p:cNvPr id="34" name="Text 27"/>
          <p:cNvSpPr/>
          <p:nvPr/>
        </p:nvSpPr>
        <p:spPr>
          <a:xfrm>
            <a:off x="640080" y="438912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case_id, question, mode):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640080" y="453542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charge contexte + RAG + appel</a:t>
            </a:r>
            <a:endParaRPr lang="en-US" sz="750" dirty="0"/>
          </a:p>
        </p:txBody>
      </p:sp>
      <p:sp>
        <p:nvSpPr>
          <p:cNvPr id="36" name="Shape 29"/>
          <p:cNvSpPr/>
          <p:nvPr/>
        </p:nvSpPr>
        <p:spPr>
          <a:xfrm>
            <a:off x="4754880" y="260604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754880" y="2606040"/>
            <a:ext cx="393192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1"/>
          <p:cNvSpPr/>
          <p:nvPr/>
        </p:nvSpPr>
        <p:spPr>
          <a:xfrm>
            <a:off x="4754880" y="2606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(Retrieval-Augmented Generation)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4937760" y="3081528"/>
            <a:ext cx="228600" cy="2286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0" name="Text 33"/>
          <p:cNvSpPr/>
          <p:nvPr/>
        </p:nvSpPr>
        <p:spPr>
          <a:xfrm>
            <a:off x="4937760" y="3081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530352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pages de docs Cosium indexees (markdown)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4937760" y="3383280"/>
            <a:ext cx="228600" cy="2286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3" name="Text 36"/>
          <p:cNvSpPr/>
          <p:nvPr/>
        </p:nvSpPr>
        <p:spPr>
          <a:xfrm>
            <a:off x="4937760" y="3383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5303520" y="3364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utilisateur → recherche par similarite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4937760" y="3685032"/>
            <a:ext cx="228600" cy="2286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6" name="Text 39"/>
          <p:cNvSpPr/>
          <p:nvPr/>
        </p:nvSpPr>
        <p:spPr>
          <a:xfrm>
            <a:off x="4937760" y="36850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7" name="Text 40"/>
          <p:cNvSpPr/>
          <p:nvPr/>
        </p:nvSpPr>
        <p:spPr>
          <a:xfrm>
            <a:off x="5303520" y="3666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pertinents extraits (top 5)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4937760" y="3986784"/>
            <a:ext cx="228600" cy="2286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9" name="Text 42"/>
          <p:cNvSpPr/>
          <p:nvPr/>
        </p:nvSpPr>
        <p:spPr>
          <a:xfrm>
            <a:off x="4937760" y="3986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5303520" y="3968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dossier charge (client, PEC, paiements)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4937760" y="4288536"/>
            <a:ext cx="228600" cy="2286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2" name="Text 45"/>
          <p:cNvSpPr/>
          <p:nvPr/>
        </p:nvSpPr>
        <p:spPr>
          <a:xfrm>
            <a:off x="4937760" y="42885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5303520" y="4270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injecte dans le prompt → Claude repond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Modele economique IA : couts et refacturation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OptiFlow paye l'API IA, trace la consommation par client, et refacture avec marge.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reel par requete IA (prix Anthropic avril 2026) 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Cout/requete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Cout/mois/client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0" y="1554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8229600" cy="30175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7452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18745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Copilotes rapides (80% appels)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187452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~0.003$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187452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~2.30$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822960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1945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219456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complexes (20% appels)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19456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~0.04$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219456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~7$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514600"/>
            <a:ext cx="8229600" cy="30175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51460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moyen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0" y="251460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requetes/jour (usage normal)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251460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251460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~5-10$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834640"/>
            <a:ext cx="822960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8346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 utilisateur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0" y="283464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requetes/jour (power user)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283464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283464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~15-20$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de refacturation recommande :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3611880"/>
            <a:ext cx="3931920" cy="128016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611880"/>
            <a:ext cx="393192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OptiFlow Solo — 99€/mois</a:t>
            </a:r>
            <a:endParaRPr lang="en-US" sz="11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023360"/>
            <a:ext cx="164592" cy="164592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68680" y="3977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requetes IA incluses (cout reel : ~2€)</a:t>
            </a:r>
            <a:endParaRPr lang="en-US" sz="100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79392"/>
            <a:ext cx="164592" cy="16459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868680" y="42336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IA Pro : 29€/mois (illimite)</a:t>
            </a:r>
            <a:endParaRPr lang="en-US" sz="10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35424"/>
            <a:ext cx="164592" cy="16459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68680" y="44897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sur IA Pro : 19-24€/client/mois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4754880" y="3611880"/>
            <a:ext cx="3931920" cy="128016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4754880" y="3611880"/>
            <a:ext cx="39319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38"/>
          <p:cNvSpPr/>
          <p:nvPr/>
        </p:nvSpPr>
        <p:spPr>
          <a:xfrm>
            <a:off x="4754880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OptiFlow Reseau — sur devis</a:t>
            </a:r>
            <a:endParaRPr lang="en-US" sz="110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023360"/>
            <a:ext cx="164592" cy="164592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166360" y="3977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incluse dans le forfait par magasin</a:t>
            </a:r>
            <a:endParaRPr lang="en-US" sz="1000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279392"/>
            <a:ext cx="164592" cy="164592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166360" y="42336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Anthropic negocie (tarif degressif)</a:t>
            </a:r>
            <a:endParaRPr lang="en-US" sz="1000" dirty="0"/>
          </a:p>
        </p:txBody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535424"/>
            <a:ext cx="164592" cy="164592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5166360" y="44897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conso IA par magasin pour l'admin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709160"/>
            <a:ext cx="201168" cy="201168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960120" y="4663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ne voit jamais de cle API. Pour lui c'est "le copilote OptiFlow" — votre valeur ajoutee.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technique : ce qui reste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6007608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6464808" y="1005840"/>
            <a:ext cx="82296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287768" y="1005840"/>
            <a:ext cx="576072" cy="3200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1005840"/>
            <a:ext cx="41148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8275320" y="1005840"/>
            <a:ext cx="41148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fait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1280160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54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8470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1554480"/>
            <a:ext cx="6583680" cy="566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CRUD, GED, Devis, Factures, PEC, Paiements, Relances, Marketing, Audit, Dashboard, Frontend 23 pages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12848"/>
            <a:ext cx="1280160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12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ETAPE 17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505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2212848"/>
            <a:ext cx="6583680" cy="566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CosiumClient adapter, SyncService (Celery), mapping clients/factures/produits, sync incrementale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71216"/>
            <a:ext cx="1280160" cy="5669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8712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ETAPE 18-19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1638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2871216"/>
            <a:ext cx="6583680" cy="566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avance (balance agee, comparatif N-1), 4 copilotes IA (RAG + Claude API + quotas)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529584"/>
            <a:ext cx="128016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ETAPE 20-21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822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3529584"/>
            <a:ext cx="6583680" cy="566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Deploiement VPS, RGPD (export, anonymisation), observabilite (Prometheus, Grafana)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187952"/>
            <a:ext cx="1280160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1879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ETAPE 22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480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20240" y="4187952"/>
            <a:ext cx="6583680" cy="566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RLS, organizations, tenant_users, credentials chiffres, dashboard groupe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: 2-3 semaines pour l'integration Cosium (ETAPE 17), 4-6 semaines pour 100%.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3657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9080" y="365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OptiFlow AI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Pret pour l'integration Cosium.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2560320" cy="1645920"/>
          </a:xfrm>
          <a:prstGeom prst="rect">
            <a:avLst/>
          </a:prstGeom>
          <a:solidFill>
            <a:srgbClr val="252B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24028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validee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8580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services, tests, clean code.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port/adapter pret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CosiumClient.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383280" y="2103120"/>
            <a:ext cx="2560320" cy="1645920"/>
          </a:xfrm>
          <a:prstGeom prst="rect">
            <a:avLst/>
          </a:prstGeom>
          <a:solidFill>
            <a:srgbClr val="252B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24028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8328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non-negociable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52044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 Cosium garantie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design. Pas de faille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par construction.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217920" y="2103120"/>
            <a:ext cx="2560320" cy="1645920"/>
          </a:xfrm>
          <a:prstGeom prst="rect">
            <a:avLst/>
          </a:prstGeom>
          <a:solidFill>
            <a:srgbClr val="252B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24028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1792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ready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35508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RLS concu.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magasin = isolation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 des donnees.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etape : connecter un compte Cosium de test et lancer la sync.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2743200" y="4069080"/>
            <a:ext cx="3657600" cy="5029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2743200" y="4069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une demo technique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2926080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eyewearista@gmail.com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OptiFlow AI — Architecture technique &amp; integration Cosium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OptiFlow AI — Architecture Technique</dc:title>
  <dc:subject>PptxGenJS Presentation</dc:subject>
  <dc:creator>OptiFlow AI</dc:creator>
  <cp:lastModifiedBy>OptiFlow AI</cp:lastModifiedBy>
  <cp:revision>1</cp:revision>
  <dcterms:created xsi:type="dcterms:W3CDTF">2026-04-03T23:37:02Z</dcterms:created>
  <dcterms:modified xsi:type="dcterms:W3CDTF">2026-04-03T23:37:02Z</dcterms:modified>
</cp:coreProperties>
</file>